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基于 OpenClaw 的 Marketing 数字员工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</a:defRPr>
            </a:pPr>
            <a:r>
              <a:t>模型选择 · 路由设计 · 爆款收集 · 系统架构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657600"/>
            <a:ext cx="1463040" cy="411480"/>
          </a:xfrm>
          <a:prstGeom prst="roundRect">
            <a:avLst/>
          </a:prstGeom>
          <a:noFill/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3675887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模型定价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657600"/>
            <a:ext cx="1463040" cy="411480"/>
          </a:xfrm>
          <a:prstGeom prst="roundRect">
            <a:avLst/>
          </a:prstGeom>
          <a:noFill/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675887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</a:defRPr>
            </a:pPr>
            <a:r>
              <a:t>智能路由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657600"/>
            <a:ext cx="1463040" cy="411480"/>
          </a:xfrm>
          <a:prstGeom prst="roundRect">
            <a:avLst/>
          </a:prstGeom>
          <a:noFill/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675887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9F43"/>
                </a:solidFill>
              </a:defRPr>
            </a:pPr>
            <a:r>
              <a:t>爆款采集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657600"/>
            <a:ext cx="1463040" cy="411480"/>
          </a:xfrm>
          <a:prstGeom prst="roundRect">
            <a:avLst/>
          </a:prstGeom>
          <a:noFill/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675887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自动化架构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2026-03 · Connact.ai 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533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模型价格与路由设计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了解可用模型定价，设计三层路由策略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</a:defRPr>
            </a:pPr>
            <a:r>
              <a:t>│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87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Marketing 数字员工总方针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产品理念、全流程工作流、OpenClaw 能力映射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96"/>
                </a:solidFill>
              </a:defRPr>
            </a:pPr>
            <a:r>
              <a:t>│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22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P1 爆款收集 — 落地方案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平台覆盖、采集流程、评分体系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434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F43"/>
                </a:solidFill>
              </a:defRPr>
            </a:pPr>
            <a:r>
              <a:t>│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7492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566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详细架构与实施计划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系统架构、Skill 设计、成本监控、上线路径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188720"/>
            <a:ext cx="4572000" cy="47548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600" b="1">
                <a:solidFill>
                  <a:srgbClr val="00D2FF"/>
                </a:solidFill>
              </a:defRPr>
            </a:pPr>
            <a:r>
              <a:t>📄 参考文档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1. OpenClaw 可接入模型与定价研究报告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AAAABB"/>
                </a:solidFill>
              </a:defRPr>
            </a:pPr>
            <a:r>
              <a:t>   → 22 页 · 模型定价/路由策略/配置教程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2. P1 模型选择与路由方案（省钱版）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AAAABB"/>
                </a:solidFill>
              </a:defRPr>
            </a:pPr>
            <a:r>
              <a:t>   → 成本估算/路由器代码/Prompt 模板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3. P1 爆款收集执行计划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AAAABB"/>
                </a:solidFill>
              </a:defRPr>
            </a:pPr>
            <a:r>
              <a:t>   → 采集流程/评分体系/Skill 设计/排期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6C63FF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模型价格与路由设计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</a:defRPr>
            </a:pPr>
            <a:r>
              <a:t>基于《OpenClaw 可接入模型与定价研究报告》的核心发现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模型定价三层架构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</a:defRPr>
            </a:pPr>
            <a:r>
              <a:t>把高价模型的调用压缩到真正需要的场景，其余用低价/免费模型覆盖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层级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输入$/MTok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17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输出$/MTok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适用任务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</a:defRPr>
            </a:pPr>
            <a:r>
              <a:t>🟢 轻量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Z.AI GLM-4.7-Flash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</a:defRPr>
            </a:pPr>
            <a:r>
              <a:t>免费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</a:defRPr>
            </a:pPr>
            <a:r>
              <a:t>免费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1920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128K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日报/简单文本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</a:defRPr>
            </a:pPr>
            <a:r>
              <a:t>🟢 轻量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Z.AI GLM-4.7-FlashX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957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$0.07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3957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$0.40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3957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200K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快速分类/标签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25496"/>
            <a:ext cx="10972800" cy="4572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712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</a:defRPr>
            </a:pPr>
            <a:r>
              <a:t>🟢 轻量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8712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OpenAI gpt-5-nano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712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8712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$0.40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8712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128K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8712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轻量备选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3467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</a:defRPr>
            </a:pPr>
            <a:r>
              <a:t>🟡 中等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3467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OpenAI gpt-5-mini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3467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$0.25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3467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$2.00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334670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128K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3467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深度分析/常规编码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776472"/>
            <a:ext cx="10972800" cy="4572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221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9F43"/>
                </a:solidFill>
              </a:defRPr>
            </a:pPr>
            <a:r>
              <a:t>🟡 中等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3822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MiniMax M2.5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8221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$0.30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8221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$1.20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0" y="38221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200K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822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中文深度分析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</a:defRPr>
            </a:pPr>
            <a:r>
              <a:t>🔴 高级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Anthropic Sonnet 4.6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297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$3.00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4297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$15.00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4297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200K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月度复盘/复杂Agent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727448"/>
            <a:ext cx="10972800" cy="4572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7731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</a:defRPr>
            </a:pPr>
            <a:r>
              <a:t>🔴 高级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OpenAI gpt-5.3-codex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4773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$1.75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4773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$14.00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0" y="4773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400K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4773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大仓库/系统设计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303520"/>
            <a:ext cx="10972800" cy="10972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394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600" b="1">
                <a:solidFill>
                  <a:srgbClr val="6C63FF"/>
                </a:solidFill>
              </a:defRPr>
            </a:pPr>
            <a:r>
              <a:t>💡 关键洞察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FFFF"/>
                </a:solidFill>
              </a:defRPr>
            </a:pPr>
            <a:r>
              <a:t>• 轻量层 vs 高级层价格差距可达 70-350 倍 — 路由策略的意义巨大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FFFF"/>
                </a:solidFill>
              </a:defRPr>
            </a:pPr>
            <a:r>
              <a:t>• Z.AI Flash 免费档是日报生成的绝佳选择；FlashX 的 $0.07 是分类任务的性价比之王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FFFF"/>
                </a:solidFill>
              </a:defRPr>
            </a:pPr>
            <a:r>
              <a:t>• OpenRouter 可做多 Provider 冗余（5.5% 手续费），但 P1 阶段量小，直连更省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静态 + 动态路由策略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0800" cy="5029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🔧 静态路由（规则驱动）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规则 1 → 图片输入 → 高级层（支持多模态）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规则 2 → 短文本 &lt; 800字 + 无复杂关键词 → 轻量层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规则 3 → 编码/修复/写测试指令 → 中等层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规则 4 → 全仓库/架构/安全审计 → 高级层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780"/>
              </a:spcAft>
              <a:defRPr sz="1300" b="0">
                <a:solidFill>
                  <a:srgbClr val="00E696"/>
                </a:solidFill>
              </a:defRPr>
            </a:pPr>
            <a:r>
              <a:t>✅ 优点: 可解释 · 可审计 · 零额外成本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9F43"/>
                </a:solidFill>
              </a:defRPr>
            </a:pPr>
            <a:r>
              <a:t>⚠️  建议: 路由做到「会话/作业级别」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AAAABB"/>
                </a:solidFill>
              </a:defRPr>
            </a:pPr>
            <a:r>
              <a:t>　避免一个 session 内频繁换模型导致上下文漂移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0800" cy="5029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2070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⚡ 动态路由（指标驱动）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1">
                <a:solidFill>
                  <a:srgbClr val="00D2FF"/>
                </a:solidFill>
              </a:defRPr>
            </a:pPr>
            <a:r>
              <a:t>实时指标采集: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FFFF"/>
                </a:solidFill>
              </a:defRPr>
            </a:pPr>
            <a:r>
              <a:t>• 延迟: TTFT / p50 / p95 总耗时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FFFF"/>
                </a:solidFill>
              </a:defRPr>
            </a:pPr>
            <a:r>
              <a:t>• 错误: 429/5xx 比例 · 超时 · billing 错误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FFFF"/>
                </a:solidFill>
              </a:defRPr>
            </a:pPr>
            <a:r>
              <a:t>• 成本: 日/月累计 · 预算剩余百分比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FFFF"/>
                </a:solidFill>
              </a:defRPr>
            </a:pPr>
            <a:r>
              <a:t>• 配额: 订阅制剩余请求 · 距刷新时间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1">
                <a:solidFill>
                  <a:srgbClr val="00D2FF"/>
                </a:solidFill>
              </a:defRPr>
            </a:pPr>
            <a:r>
              <a:t>动态决策规则: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9F43"/>
                </a:solidFill>
              </a:defRPr>
            </a:pPr>
            <a:r>
              <a:t>• 预算剩余 &lt; 15% → 高级→中等 降级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9F43"/>
                </a:solidFill>
              </a:defRPr>
            </a:pPr>
            <a:r>
              <a:t>• 预算剩余 &lt; 5% → 中等→轻量 降级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6B6B"/>
                </a:solidFill>
              </a:defRPr>
            </a:pPr>
            <a:r>
              <a:t>• p95 &gt; 10s(轻/中) 或 &gt; 25s(高) → 熔断 10min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FF6B6B"/>
                </a:solidFill>
              </a:defRPr>
            </a:pPr>
            <a:r>
              <a:t>• 429 连续 ≥3 次/2min → 熔断 + 切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E696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Marketing 数字员工总方针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</a:defRPr>
            </a:pPr>
            <a:r>
              <a:t>OpenClaw 驱动的内容生产自动化流水线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内容生产全流程（9 阶段）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920240" cy="1737360"/>
          </a:xfrm>
          <a:prstGeom prst="roundRect">
            <a:avLst/>
          </a:prstGeom>
          <a:solidFill>
            <a:srgbClr val="2A2055"/>
          </a:solidFill>
          <a:ln w="317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</a:defRPr>
            </a:pPr>
            <a:r>
              <a:t>★ 当前重点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爆款收集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自动抓取</a:t>
            </a:r>
            <a:br/>
            <a:r>
              <a:t>多平台热门内容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280160"/>
            <a:ext cx="1920240" cy="1737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</a:defRPr>
            </a:pPr>
            <a:r>
              <a:t>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内容筛选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周会评审</a:t>
            </a:r>
            <a:br/>
            <a:r>
              <a:t>团队投票决策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280160"/>
            <a:ext cx="1920240" cy="1737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</a:defRPr>
            </a:pPr>
            <a: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脚本改编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LLM 辅助</a:t>
            </a:r>
            <a:br/>
            <a:r>
              <a:t>改编为品牌脚本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280160"/>
            <a:ext cx="1920240" cy="1737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</a:defRPr>
            </a:pPr>
            <a:r>
              <a:t>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拍摄制作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按脚本执行</a:t>
            </a:r>
            <a:br/>
            <a:r>
              <a:t>拍摄+录制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280160"/>
            <a:ext cx="1920240" cy="17373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1371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</a:defRPr>
            </a:pPr>
            <a:r>
              <a:t>P5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剪辑优化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194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AI 字幕/配乐</a:t>
            </a:r>
            <a:br/>
            <a:r>
              <a:t>节奏优化</a:t>
            </a:r>
          </a:p>
        </p:txBody>
      </p:sp>
      <p:sp>
        <p:nvSpPr>
          <p:cNvPr id="28" name="TextBox 27"/>
          <p:cNvSpPr txBox="1"/>
          <p:nvPr/>
        </p:nvSpPr>
        <p:spPr>
          <a:xfrm rot="3900000">
            <a:off x="9726930" y="2906395"/>
            <a:ext cx="1010920" cy="16287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0">
                <a:solidFill>
                  <a:srgbClr val="888899"/>
                </a:solidFill>
              </a:defRPr>
            </a:pPr>
            <a: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931920"/>
            <a:ext cx="1920240" cy="1371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</a:defRPr>
            </a:pPr>
            <a:r>
              <a:t>P6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4343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发布上线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2928" y="4754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多平台定时发布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3931920"/>
            <a:ext cx="1920240" cy="1371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8928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</a:defRPr>
            </a:pPr>
            <a:r>
              <a:t>P7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4343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数据监测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4754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实时追踪</a:t>
            </a:r>
            <a:br/>
            <a:r>
              <a:t>播放/互动数据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931920"/>
            <a:ext cx="1920240" cy="1371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4928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</a:defRPr>
            </a:pPr>
            <a:r>
              <a:t>P8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8" y="4343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周复盘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8" y="4754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数据驱动</a:t>
            </a:r>
            <a:br/>
            <a:r>
              <a:t>总结成功模式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3931920"/>
            <a:ext cx="1920240" cy="1371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0928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</a:defRPr>
            </a:pPr>
            <a:r>
              <a:t>P9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4343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优化迭代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4754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反馈闭环</a:t>
            </a:r>
            <a:br/>
            <a:r>
              <a:t>持续提升命中率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669280"/>
            <a:ext cx="11247120" cy="86868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1">
                <a:solidFill>
                  <a:srgbClr val="00E696"/>
                </a:solidFill>
              </a:defRPr>
            </a:pPr>
            <a:r>
              <a:t>OpenClaw 能力映射:  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FFFFFF"/>
                </a:solidFill>
              </a:defRPr>
            </a:pPr>
            <a:r>
              <a:t>Browser Control → P1 抓取 ｜ Cron → P1/P6/P7 定时 ｜ Memory → P1/P8/P9 学习闭环 ｜ Skills → 全流程插件化 ｜ Chat → P2 周会/日报推送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9F43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P1 爆款收集 — 落地方案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</a:defRPr>
            </a:pPr>
            <a:r>
              <a:t>全自动 · 多平台 · 可学习的爆款内容采集系统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P1 采集流程 × 两阶段 LLM 路由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</a:defRPr>
            </a:pPr>
            <a: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关键词加载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97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无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3931920" cy="4572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</a:defRPr>
            </a:pPr>
            <a: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73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平台抓取 (Browser)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无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03704"/>
            <a:ext cx="3931920" cy="4572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4942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</a:defRPr>
            </a:pPr>
            <a: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94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数据抽取 →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4942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无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79776"/>
            <a:ext cx="3931920" cy="4572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254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</a:defRPr>
            </a:pPr>
            <a: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254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去重 (Memory)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8254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无 LLM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55848"/>
            <a:ext cx="3931920" cy="4572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015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</a:defRPr>
            </a:pPr>
            <a:r>
              <a:t>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01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硬指标打分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无 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3931920" cy="457200"/>
          </a:xfrm>
          <a:prstGeom prst="rect">
            <a:avLst/>
          </a:prstGeom>
          <a:solidFill>
            <a:srgbClr val="2A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</a:defRPr>
            </a:pPr>
            <a:r>
              <a:t>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软指标分析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977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</a:defRPr>
            </a:pPr>
            <a:r>
              <a:t>LLM 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07992"/>
            <a:ext cx="3931920" cy="4572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53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</a:defRPr>
            </a:pPr>
            <a:r>
              <a:t>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553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综合评分 A/B/C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5537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无 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84064"/>
            <a:ext cx="3931920" cy="45720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AABB"/>
                </a:solidFill>
              </a:defRPr>
            </a:pPr>
            <a:r>
              <a:t>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1297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存储 +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297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无 LLM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660136"/>
            <a:ext cx="3931920" cy="457200"/>
          </a:xfrm>
          <a:prstGeom prst="rect">
            <a:avLst/>
          </a:prstGeom>
          <a:solidFill>
            <a:srgbClr val="2A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058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</a:defRPr>
            </a:pPr>
            <a:r>
              <a:t>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705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日报推送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7058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63FF"/>
                </a:solidFill>
              </a:defRPr>
            </a:pPr>
            <a:r>
              <a:t>LLM 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1005840"/>
            <a:ext cx="6766560" cy="5303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46320" y="1005840"/>
            <a:ext cx="50800" cy="53035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11155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</a:defRPr>
            </a:pPr>
            <a:r>
              <a:t>⑥ 两阶段 LLM 漏斗（核心省钱策略）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146304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6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960"/>
              </a:spcAft>
              <a:defRPr sz="1600" b="1">
                <a:solidFill>
                  <a:srgbClr val="00E696"/>
                </a:solidFill>
              </a:defRPr>
            </a:pPr>
            <a:r>
              <a:t>阶段 1 — 快速分类（全量）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模型: GLM-4.7-FlashX（$0.07/MTok）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AAAABB"/>
                </a:solidFill>
              </a:defRPr>
            </a:pPr>
            <a:r>
              <a:t>任务: Hook 类型 / 情绪标签 / 品牌相关度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00E696"/>
                </a:solidFill>
              </a:defRPr>
            </a:pPr>
            <a:r>
              <a:t>成本: ¥0.003/条 · 30条/天 = ¥0.09/天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AAAABB"/>
                </a:solidFill>
              </a:defRPr>
            </a:pPr>
            <a:r>
              <a:t>输出: JSON → {hook, emotion, brand_rel, worth_deep}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780"/>
              </a:spcAft>
              <a:defRPr sz="1300" b="0">
                <a:solidFill>
                  <a:srgbClr val="FF9F43"/>
                </a:solidFill>
              </a:defRPr>
            </a:pPr>
            <a:r>
              <a:t>　　　　　  ⬇  brand_relevance ≥ 0.5 才进入 (~40%)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960"/>
              </a:spcAft>
              <a:defRPr sz="1600" b="1">
                <a:solidFill>
                  <a:srgbClr val="00D2FF"/>
                </a:solidFill>
              </a:defRPr>
            </a:pPr>
            <a:r>
              <a:t>阶段 2 — 深度分析（条件触发）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模型: gpt-5-mini（$0.25/$2.00/MTok）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AAAABB"/>
                </a:solidFill>
              </a:defRPr>
            </a:pPr>
            <a:r>
              <a:t>任务: 内容公式 / Hook 细节 / 可复制性 / 改编建议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00D2FF"/>
                </a:solidFill>
              </a:defRPr>
            </a:pPr>
            <a:r>
              <a:t>成本: ¥0.02/条 · 12条/天 = ¥0.24/天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960"/>
              </a:spcAft>
              <a:defRPr sz="1600" b="1">
                <a:solidFill>
                  <a:srgbClr val="00E696"/>
                </a:solidFill>
              </a:defRPr>
            </a:pPr>
            <a:r>
              <a:t>⑨ 日报趋势总结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00E696"/>
                </a:solidFill>
              </a:defRPr>
            </a:pPr>
            <a:r>
              <a:t>模型: GLM-4.7-Flash（免费！）</a:t>
            </a:r>
          </a:p>
          <a:p>
            <a:pPr algn="l">
              <a:spcAft>
                <a:spcPts val="780"/>
              </a:spcAft>
              <a:defRPr sz="1300" b="0">
                <a:solidFill>
                  <a:srgbClr val="00E696"/>
                </a:solidFill>
              </a:defRPr>
            </a:pPr>
            <a:r>
              <a:t>成本: ¥0/天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月度成本估算 — 三档方案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66160" cy="3657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</a:defRPr>
            </a:pPr>
            <a:r>
              <a:t>🟢 极省版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≈ ¥3/月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全量用 Z.AI Flash 免费档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FlashX 做简单分类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不做深度分析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适合: MVP 验证阶段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3657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</a:defRPr>
            </a:pPr>
            <a:r>
              <a:t>🟡 推荐版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≈ ¥10/月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FlashX 快速分类 → ¥3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gpt-5-mini 深度分析 → ¥7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Flash 免费做日报 → ¥0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适合: 正式运营（推荐）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097280"/>
            <a:ext cx="1188720" cy="32004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097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推荐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97280"/>
            <a:ext cx="3566160" cy="3657600"/>
          </a:xfrm>
          <a:prstGeom prst="roundRect">
            <a:avLst/>
          </a:prstGeom>
          <a:solidFill>
            <a:srgbClr val="22223A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🔴 高配版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≈ ¥32/月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gpt-5-mini 全量分析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Sonnet 4.6 月度复盘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追求最高分析质量</a:t>
            </a: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0">
                <a:solidFill>
                  <a:srgbClr val="AAAABB"/>
                </a:solidFill>
              </a:defRPr>
            </a:pPr>
            <a:r>
              <a:t>适合: 预算充裕团队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600" b="1">
                <a:solidFill>
                  <a:srgbClr val="6C63FF"/>
                </a:solidFill>
              </a:defRPr>
            </a:pPr>
            <a:r>
              <a:t>📊 成本对比（假设 1500 条/月分析量）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AAAABB"/>
                </a:solidFill>
              </a:defRPr>
            </a:pPr>
          </a:p>
          <a:p>
            <a:pPr algn="l">
              <a:spcAft>
                <a:spcPts val="840"/>
              </a:spcAft>
              <a:defRPr sz="1400" b="0">
                <a:solidFill>
                  <a:srgbClr val="FFFFFF"/>
                </a:solidFill>
              </a:defRPr>
            </a:pPr>
            <a:r>
              <a:t>┃ 全量 Opus 4.6:  ¥375/月   ┃ 全量 gpt-5-mini:  ¥30/月   ┃ 推荐分层路由:  ¥10/月   ┃ 极省版:  ¥3/月 ┃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00E696"/>
                </a:solidFill>
              </a:defRPr>
            </a:pPr>
            <a:r>
              <a:t>　 节省 97%+                     节省 67%                       最佳性价比 ★                 MVP 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详细架构与实施计划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</a:defRPr>
            </a:pPr>
            <a:r>
              <a:t>系统架构 · Skill 设计 · 成本监控 · 上线路径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系统架构 + 6 周实施路径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5943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</a:defRPr>
            </a:pPr>
            <a:r>
              <a:t>📱 用户入口 — Telegram / 飞书 / Discord → OpenClaw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5943600" cy="822960"/>
          </a:xfrm>
          <a:prstGeom prst="roundRect">
            <a:avLst/>
          </a:prstGeom>
          <a:solidFill>
            <a:srgbClr val="2A1E5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1">
                <a:solidFill>
                  <a:srgbClr val="6C63FF"/>
                </a:solidFill>
              </a:defRPr>
            </a:pPr>
            <a:r>
              <a:t>🔀 路由与策略层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Router Service（静态+动态）  ←→  路由配置 router.yaml  ←→  指标存储（延迟/错误/成本）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34640"/>
            <a:ext cx="5943600" cy="1463040"/>
          </a:xfrm>
          <a:prstGeom prst="roundRect">
            <a:avLst/>
          </a:prstGeom>
          <a:solidFill>
            <a:srgbClr val="1E3A2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5943600" cy="1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400" b="1">
                <a:solidFill>
                  <a:srgbClr val="00E696"/>
                </a:solidFill>
              </a:defRPr>
            </a:pPr>
            <a:r>
              <a:t>⚙️  OpenClaw Skills 执行层</a:t>
            </a:r>
          </a:p>
          <a:p>
            <a:pPr algn="l">
              <a:spcAft>
                <a:spcPts val="720"/>
              </a:spcAft>
              <a:defRPr sz="1200" b="0">
                <a:solidFill>
                  <a:srgbClr val="FFFFFF"/>
                </a:solidFill>
              </a:defRPr>
            </a:pPr>
            <a:r>
              <a:t>viral-collector          viral-analyzer           viral-reporter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Cron 每6h · Browser     两阶段 LLM 漏斗          模板渲染 + LLM 趋势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多平台抓取 · 去重       FlashX→gpt-5-mini        Flash(免费) · 推送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80560"/>
            <a:ext cx="2834640" cy="8229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26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1">
                <a:solidFill>
                  <a:srgbClr val="FF9F43"/>
                </a:solidFill>
              </a:defRPr>
            </a:pPr>
            <a:r>
              <a:t>💾 数据存储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/data/oc/viral_pool/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raw/ · analyzed/ · reports/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480560"/>
            <a:ext cx="2926080" cy="8229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526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1">
                <a:solidFill>
                  <a:srgbClr val="00D2FF"/>
                </a:solidFill>
              </a:defRPr>
            </a:pPr>
            <a:r>
              <a:t>🧠 Persistent Memory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viral_urls_seen · patterns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preferences · keywords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486400"/>
            <a:ext cx="5943600" cy="731520"/>
          </a:xfrm>
          <a:prstGeom prst="roundRect">
            <a:avLst/>
          </a:prstGeom>
          <a:solidFill>
            <a:srgbClr val="3A1E1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5321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80"/>
              </a:spcAft>
              <a:defRPr sz="1300" b="1">
                <a:solidFill>
                  <a:srgbClr val="FF6B6B"/>
                </a:solidFill>
              </a:defRPr>
            </a:pPr>
            <a:r>
              <a:t>☁️  模型 API 层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AAAABB"/>
                </a:solidFill>
              </a:defRPr>
            </a:pPr>
            <a:r>
              <a:t>Z.AI Flash/FlashX(免费/轻量)   |   OpenAI gpt-5-mini(中等)   |   Anthropic Sonnet(高级·可选)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664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700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3159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3218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</a:defRPr>
            </a:pPr>
            <a: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📅 6 周实施路径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371600"/>
            <a:ext cx="5120640" cy="15087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1371600"/>
            <a:ext cx="50800" cy="1508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444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</a:defRPr>
            </a:pPr>
            <a:r>
              <a:t>Phase 1 — 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1444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BB"/>
                </a:solidFill>
              </a:defRPr>
            </a:pPr>
            <a:r>
              <a:t>第 1-2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755648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安装配置 OpenClaw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编写 viral-collector（抖音+小红书）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确定关键词 + 爆款阈值 V1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手动触发采集 · 验证数据质量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063240"/>
            <a:ext cx="5120640" cy="15087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3063240"/>
            <a:ext cx="50800" cy="150876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136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</a:defRPr>
            </a:pPr>
            <a:r>
              <a:t>Phase 2 — 自动化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3136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BB"/>
                </a:solidFill>
              </a:defRPr>
            </a:pPr>
            <a:r>
              <a:t>第 3-4 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447288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编写 viral-analyzer + reporter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配置 Cron 定时任务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接入 Telegram/飞书推送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扩展到 B站 + YouTube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754880"/>
            <a:ext cx="5120640" cy="150876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4754880"/>
            <a:ext cx="50800" cy="15087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828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</a:defRPr>
            </a:pPr>
            <a:r>
              <a:t>Phase 3 — 学习闭环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AABB"/>
                </a:solidFill>
              </a:defRPr>
            </a:pPr>
            <a:r>
              <a:t>第 5-6 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138928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P2 筛选结果回流 Memory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关键词效果分析 + 权重自调整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阈值动态调整 · 模式总结</a:t>
            </a:r>
          </a:p>
          <a:p>
            <a:pPr algn="l">
              <a:spcAft>
                <a:spcPts val="480"/>
              </a:spcAft>
              <a:defRPr sz="1200" b="0">
                <a:solidFill>
                  <a:srgbClr val="FFFFFF"/>
                </a:solidFill>
              </a:defRPr>
            </a:pPr>
            <a:r>
              <a:t>• 月度套路手册输出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3667</Words>
  <Application>WPS 演示</Application>
  <PresentationFormat>On-screen Show (4:3)</PresentationFormat>
  <Paragraphs>486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MosMa</cp:lastModifiedBy>
  <cp:revision>2</cp:revision>
  <dcterms:created xsi:type="dcterms:W3CDTF">2026-03-01T16:07:59Z</dcterms:created>
  <dcterms:modified xsi:type="dcterms:W3CDTF">2026-03-01T16:07:59Z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EF875AAC108CA51D5F64A46965DE6E25_42</vt:lpwstr>
  </property>
  <property fmtid="{D5CDD505-2E9C-101B-9397-08002B2CF9AE}" pid="3" name="KSOProductBuildVer">
    <vt:lpwstr>2052-12.1.21937.21937</vt:lpwstr>
  </property>
</Properties>
</file>